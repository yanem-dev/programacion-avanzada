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9" r:id="rId3"/>
    <p:sldId id="261" r:id="rId4"/>
    <p:sldId id="258" r:id="rId5"/>
    <p:sldId id="262" r:id="rId6"/>
    <p:sldId id="263" r:id="rId7"/>
    <p:sldId id="264" r:id="rId8"/>
    <p:sldId id="260" r:id="rId9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#1" qsCatId="simple" csTypeId="urn:microsoft.com/office/officeart/2005/8/colors/accent2_2#1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1. </a:t>
          </a:r>
          <a:r>
            <a:rPr lang="es-MX" dirty="0"/>
            <a:t>La memoria no es una cámara fotográfica.</a:t>
          </a:r>
          <a:endParaRPr lang="es-ES" noProof="0" dirty="0"/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  <a:buNone/>
          </a:pPr>
          <a:r>
            <a:rPr lang="es-MX" dirty="0"/>
            <a:t>2. Rellenando los huecos (El "Horror Vacui" cerebral).</a:t>
          </a:r>
          <a:endParaRPr lang="es-ES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MX" dirty="0"/>
            <a:t>3. El Hipocampo y la creación de recuerdos.</a:t>
          </a:r>
          <a:endParaRPr lang="es-ES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06835253-ECF1-44BC-A516-07E026DB9712}">
      <dgm:prSet phldrT="[Text]"/>
      <dgm:spPr/>
      <dgm:t>
        <a:bodyPr/>
        <a:lstStyle/>
        <a:p>
          <a:pPr>
            <a:lnSpc>
              <a:spcPct val="100000"/>
            </a:lnSpc>
            <a:buNone/>
          </a:pPr>
          <a:r>
            <a:rPr lang="es-MX" dirty="0"/>
            <a:t>4. Plasticidad: El cerebro cambia físicamente.</a:t>
          </a:r>
          <a:endParaRPr lang="es-ES" noProof="0" dirty="0"/>
        </a:p>
      </dgm:t>
    </dgm:pt>
    <dgm:pt modelId="{81D311A6-1513-416D-AF0F-3C128AAEF261}" type="parTrans" cxnId="{52B7B2AA-E272-410A-9076-1CD2BDD5A4BE}">
      <dgm:prSet/>
      <dgm:spPr/>
      <dgm:t>
        <a:bodyPr/>
        <a:lstStyle/>
        <a:p>
          <a:endParaRPr lang="es-MX"/>
        </a:p>
      </dgm:t>
    </dgm:pt>
    <dgm:pt modelId="{4DE31A19-0113-4ECE-A81B-8CB705FD9855}" type="sibTrans" cxnId="{52B7B2AA-E272-410A-9076-1CD2BDD5A4BE}">
      <dgm:prSet/>
      <dgm:spPr/>
      <dgm:t>
        <a:bodyPr/>
        <a:lstStyle/>
        <a:p>
          <a:endParaRPr lang="es-MX"/>
        </a:p>
      </dgm:t>
    </dgm:pt>
    <dgm:pt modelId="{CD3C7440-98A4-41EE-8910-452D23F924D6}">
      <dgm:prSet phldrT="[Text]"/>
      <dgm:spPr/>
      <dgm:t>
        <a:bodyPr/>
        <a:lstStyle/>
        <a:p>
          <a:pPr>
            <a:lnSpc>
              <a:spcPct val="100000"/>
            </a:lnSpc>
            <a:buNone/>
          </a:pPr>
          <a:r>
            <a:rPr lang="es-MX" dirty="0"/>
            <a:t>5. La necesidad de olvidar y la ilusión del "Yo“.</a:t>
          </a:r>
          <a:endParaRPr lang="es-ES" noProof="0" dirty="0"/>
        </a:p>
      </dgm:t>
    </dgm:pt>
    <dgm:pt modelId="{690F5E47-1DB1-4D91-8F25-17F3AEAABCCB}" type="parTrans" cxnId="{0551C41B-112C-4758-A294-8C219DC92969}">
      <dgm:prSet/>
      <dgm:spPr/>
      <dgm:t>
        <a:bodyPr/>
        <a:lstStyle/>
        <a:p>
          <a:endParaRPr lang="es-MX"/>
        </a:p>
      </dgm:t>
    </dgm:pt>
    <dgm:pt modelId="{258BE620-7F41-41E0-AA6C-7156AD013048}" type="sibTrans" cxnId="{0551C41B-112C-4758-A294-8C219DC92969}">
      <dgm:prSet/>
      <dgm:spPr/>
      <dgm:t>
        <a:bodyPr/>
        <a:lstStyle/>
        <a:p>
          <a:endParaRPr lang="es-MX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58319267-C71E-43C9-94E1-827D0616C7A7}" type="pres">
      <dgm:prSet presAssocID="{6750AC01-D39D-4F3A-9DC8-2A211EE986A2}" presName="text_1" presStyleLbl="node1" presStyleIdx="0" presStyleCnt="5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5"/>
      <dgm:spPr/>
    </dgm:pt>
    <dgm:pt modelId="{95DE6538-27BD-44AF-A1A8-CA8F6B10FDD2}" type="pres">
      <dgm:prSet presAssocID="{0BEF68B8-1228-47BB-83B5-7B9CD1E3F84E}" presName="text_2" presStyleLbl="node1" presStyleIdx="1" presStyleCnt="5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5"/>
      <dgm:spPr/>
    </dgm:pt>
    <dgm:pt modelId="{E131CE4A-9776-44F4-BC03-867682E21374}" type="pres">
      <dgm:prSet presAssocID="{5605D28D-2CE6-4513-8566-952984E21E14}" presName="text_3" presStyleLbl="node1" presStyleIdx="2" presStyleCnt="5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5"/>
      <dgm:spPr/>
    </dgm:pt>
    <dgm:pt modelId="{B66533CD-6B4C-471F-83A6-94E452F4F728}" type="pres">
      <dgm:prSet presAssocID="{06835253-ECF1-44BC-A516-07E026DB9712}" presName="text_4" presStyleLbl="node1" presStyleIdx="3" presStyleCnt="5">
        <dgm:presLayoutVars>
          <dgm:bulletEnabled val="1"/>
        </dgm:presLayoutVars>
      </dgm:prSet>
      <dgm:spPr/>
    </dgm:pt>
    <dgm:pt modelId="{71D0F2CB-2054-480A-A2B9-E2E053B7D5AA}" type="pres">
      <dgm:prSet presAssocID="{06835253-ECF1-44BC-A516-07E026DB9712}" presName="accent_4" presStyleCnt="0"/>
      <dgm:spPr/>
    </dgm:pt>
    <dgm:pt modelId="{0AFD720A-AB4A-48A3-92AC-7FAD167D1C80}" type="pres">
      <dgm:prSet presAssocID="{06835253-ECF1-44BC-A516-07E026DB9712}" presName="accentRepeatNode" presStyleLbl="solidFgAcc1" presStyleIdx="3" presStyleCnt="5"/>
      <dgm:spPr/>
    </dgm:pt>
    <dgm:pt modelId="{B47161EF-F9DD-4760-8C35-60C37F876145}" type="pres">
      <dgm:prSet presAssocID="{CD3C7440-98A4-41EE-8910-452D23F924D6}" presName="text_5" presStyleLbl="node1" presStyleIdx="4" presStyleCnt="5">
        <dgm:presLayoutVars>
          <dgm:bulletEnabled val="1"/>
        </dgm:presLayoutVars>
      </dgm:prSet>
      <dgm:spPr/>
    </dgm:pt>
    <dgm:pt modelId="{7C20DA21-98A8-4A6F-AB5D-F240942C2AC5}" type="pres">
      <dgm:prSet presAssocID="{CD3C7440-98A4-41EE-8910-452D23F924D6}" presName="accent_5" presStyleCnt="0"/>
      <dgm:spPr/>
    </dgm:pt>
    <dgm:pt modelId="{022B38E4-EAF8-4CA2-8562-B2C6C5819418}" type="pres">
      <dgm:prSet presAssocID="{CD3C7440-98A4-41EE-8910-452D23F924D6}" presName="accentRepeatNode" presStyleLbl="solidFgAcc1" presStyleIdx="4" presStyleCnt="5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D3B8931B-5A3C-429E-8A46-65CDD02BCE01}" type="presOf" srcId="{06835253-ECF1-44BC-A516-07E026DB9712}" destId="{B66533CD-6B4C-471F-83A6-94E452F4F728}" srcOrd="0" destOrd="0" presId="urn:microsoft.com/office/officeart/2008/layout/VerticalCurvedList"/>
    <dgm:cxn modelId="{0551C41B-112C-4758-A294-8C219DC92969}" srcId="{7E5AA53B-3EEE-4DE4-BB81-9044890C2946}" destId="{CD3C7440-98A4-41EE-8910-452D23F924D6}" srcOrd="4" destOrd="0" parTransId="{690F5E47-1DB1-4D91-8F25-17F3AEAABCCB}" sibTransId="{258BE620-7F41-41E0-AA6C-7156AD013048}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52B7B2AA-E272-410A-9076-1CD2BDD5A4BE}" srcId="{7E5AA53B-3EEE-4DE4-BB81-9044890C2946}" destId="{06835253-ECF1-44BC-A516-07E026DB9712}" srcOrd="3" destOrd="0" parTransId="{81D311A6-1513-416D-AF0F-3C128AAEF261}" sibTransId="{4DE31A19-0113-4ECE-A81B-8CB705FD9855}"/>
    <dgm:cxn modelId="{B05836EB-7524-42EB-910D-787C907DCDA3}" type="presOf" srcId="{CD3C7440-98A4-41EE-8910-452D23F924D6}" destId="{B47161EF-F9DD-4760-8C35-60C37F876145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0B35A2FD-AFFE-4B4A-8348-89428A24C8CB}" type="presParOf" srcId="{90561C55-3C6E-4D53-85E1-2C50BCDDA392}" destId="{B66533CD-6B4C-471F-83A6-94E452F4F728}" srcOrd="7" destOrd="0" presId="urn:microsoft.com/office/officeart/2008/layout/VerticalCurvedList"/>
    <dgm:cxn modelId="{7441EB24-68AC-4DEC-A0D7-5813DD09400C}" type="presParOf" srcId="{90561C55-3C6E-4D53-85E1-2C50BCDDA392}" destId="{71D0F2CB-2054-480A-A2B9-E2E053B7D5AA}" srcOrd="8" destOrd="0" presId="urn:microsoft.com/office/officeart/2008/layout/VerticalCurvedList"/>
    <dgm:cxn modelId="{02688727-F08E-4629-84EF-61465645E901}" type="presParOf" srcId="{71D0F2CB-2054-480A-A2B9-E2E053B7D5AA}" destId="{0AFD720A-AB4A-48A3-92AC-7FAD167D1C80}" srcOrd="0" destOrd="0" presId="urn:microsoft.com/office/officeart/2008/layout/VerticalCurvedList"/>
    <dgm:cxn modelId="{E4309A0C-1AD6-4ECC-9DD0-CEBE519C7978}" type="presParOf" srcId="{90561C55-3C6E-4D53-85E1-2C50BCDDA392}" destId="{B47161EF-F9DD-4760-8C35-60C37F876145}" srcOrd="9" destOrd="0" presId="urn:microsoft.com/office/officeart/2008/layout/VerticalCurvedList"/>
    <dgm:cxn modelId="{61E8B123-D99A-4C57-9FB7-28759AEBB7D6}" type="presParOf" srcId="{90561C55-3C6E-4D53-85E1-2C50BCDDA392}" destId="{7C20DA21-98A8-4A6F-AB5D-F240942C2AC5}" srcOrd="10" destOrd="0" presId="urn:microsoft.com/office/officeart/2008/layout/VerticalCurvedList"/>
    <dgm:cxn modelId="{A6822542-96A3-47B3-B8F4-197B377F15CA}" type="presParOf" srcId="{7C20DA21-98A8-4A6F-AB5D-F240942C2AC5}" destId="{022B38E4-EAF8-4CA2-8562-B2C6C581941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#1" qsCatId="simple" csTypeId="urn:microsoft.com/office/officeart/2018/5/colors/Iconchunking_neutralbg_accent2_2" csCatId="accent2" phldr="1"/>
      <dgm:spPr/>
    </dgm:pt>
    <dgm:pt modelId="{91A66877-AC1C-46D9-BF2C-6024B638DEA9}">
      <dgm:prSet phldrT="[Text]"/>
      <dgm:spPr/>
      <dgm:t>
        <a:bodyPr rtlCol="0"/>
        <a:lstStyle/>
        <a:p>
          <a:pPr rtl="0"/>
          <a:r>
            <a:rPr lang="es-MX" dirty="0"/>
            <a:t>Los recuerdos son una mezcla de realidad y ficción.</a:t>
          </a:r>
          <a:endParaRPr lang="es-ES" noProof="0" dirty="0"/>
        </a:p>
      </dgm:t>
    </dgm:pt>
    <dgm:pt modelId="{913FED05-DF41-48A7-B1F8-81937A468EF9}" type="parTrans" cxnId="{7F0DAB6F-9257-4F2D-B31A-3418F73F6952}">
      <dgm:prSet/>
      <dgm:spPr/>
      <dgm:t>
        <a:bodyPr rtlCol="0"/>
        <a:lstStyle/>
        <a:p>
          <a:pPr rtl="0"/>
          <a:endParaRPr lang="es-ES" noProof="0" dirty="0"/>
        </a:p>
      </dgm:t>
    </dgm:pt>
    <dgm:pt modelId="{BFCE4A28-C381-46FF-935A-B11534EF7D87}" type="sibTrans" cxnId="{7F0DAB6F-9257-4F2D-B31A-3418F73F6952}">
      <dgm:prSet/>
      <dgm:spPr/>
      <dgm:t>
        <a:bodyPr rtlCol="0"/>
        <a:lstStyle/>
        <a:p>
          <a:pPr rtl="0"/>
          <a:endParaRPr lang="es-ES" noProof="0" dirty="0"/>
        </a:p>
      </dgm:t>
    </dgm:pt>
    <dgm:pt modelId="{76CC3289-2662-43F0-A3C6-BA04A135F08C}">
      <dgm:prSet phldrT="[Text]"/>
      <dgm:spPr/>
      <dgm:t>
        <a:bodyPr rtlCol="0"/>
        <a:lstStyle/>
        <a:p>
          <a:pPr rtl="0"/>
          <a:r>
            <a:rPr lang="es-MX" dirty="0"/>
            <a:t>El cerebro prefiere una historia "coherente" a una historia "verdadera".</a:t>
          </a:r>
          <a:endParaRPr lang="es-ES" noProof="0" dirty="0"/>
        </a:p>
      </dgm:t>
    </dgm:pt>
    <dgm:pt modelId="{D46DB4DA-1442-4ECE-89FE-BBB1E3489E3D}" type="parTrans" cxnId="{0400886E-8A1A-44C2-95A7-DB0EF4911494}">
      <dgm:prSet/>
      <dgm:spPr/>
      <dgm:t>
        <a:bodyPr rtlCol="0"/>
        <a:lstStyle/>
        <a:p>
          <a:pPr rtl="0"/>
          <a:endParaRPr lang="es-ES" noProof="0" dirty="0"/>
        </a:p>
      </dgm:t>
    </dgm:pt>
    <dgm:pt modelId="{FA28C9D6-476E-43CD-BA23-D6D990FD78D0}" type="sibTrans" cxnId="{0400886E-8A1A-44C2-95A7-DB0EF4911494}">
      <dgm:prSet/>
      <dgm:spPr/>
      <dgm:t>
        <a:bodyPr rtlCol="0"/>
        <a:lstStyle/>
        <a:p>
          <a:pPr rtl="0"/>
          <a:endParaRPr lang="es-ES" noProof="0" dirty="0"/>
        </a:p>
      </dgm:t>
    </dgm:pt>
    <dgm:pt modelId="{701D68F5-42F8-47BC-8FED-84C50F595DF0}">
      <dgm:prSet phldrT="[Text]"/>
      <dgm:spPr/>
      <dgm:t>
        <a:bodyPr rtlCol="0"/>
        <a:lstStyle/>
        <a:p>
          <a:pPr rtl="0"/>
          <a:r>
            <a:rPr lang="es-MX" dirty="0"/>
            <a:t>El cerebro no es un disco duro.</a:t>
          </a:r>
          <a:endParaRPr lang="es-ES" noProof="0" dirty="0"/>
        </a:p>
      </dgm:t>
    </dgm:pt>
    <dgm:pt modelId="{0C95B389-AC0C-4055-9AA3-38815EFC8B0A}" type="sibTrans" cxnId="{C4BA385D-31ED-40EF-A5D6-98DFBA64E71A}">
      <dgm:prSet/>
      <dgm:spPr/>
      <dgm:t>
        <a:bodyPr rtlCol="0"/>
        <a:lstStyle/>
        <a:p>
          <a:pPr rtl="0"/>
          <a:endParaRPr lang="es-ES" noProof="0" dirty="0"/>
        </a:p>
      </dgm:t>
    </dgm:pt>
    <dgm:pt modelId="{9617668C-C38C-4017-8DDF-37855B15D110}" type="parTrans" cxnId="{C4BA385D-31ED-40EF-A5D6-98DFBA64E71A}">
      <dgm:prSet/>
      <dgm:spPr/>
      <dgm:t>
        <a:bodyPr rtlCol="0"/>
        <a:lstStyle/>
        <a:p>
          <a:pPr rtl="0"/>
          <a:endParaRPr lang="es-ES" noProof="0" dirty="0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ln>
          <a:noFill/>
        </a:ln>
      </dgm:spPr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ln>
          <a:noFill/>
        </a:ln>
      </dgm:spPr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ln>
          <a:noFill/>
        </a:ln>
      </dgm:spPr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338329" y="222674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0800" rIns="50800" bIns="508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0" dirty="0"/>
            <a:t>1. </a:t>
          </a:r>
          <a:r>
            <a:rPr lang="es-MX" sz="2000" kern="1200" dirty="0"/>
            <a:t>La memoria no es una cámara fotográfica.</a:t>
          </a:r>
          <a:endParaRPr lang="es-ES" sz="2000" kern="1200" noProof="0" dirty="0"/>
        </a:p>
      </dsp:txBody>
      <dsp:txXfrm>
        <a:off x="338329" y="222674"/>
        <a:ext cx="6468629" cy="445634"/>
      </dsp:txXfrm>
    </dsp:sp>
    <dsp:sp modelId="{07CB3071-D555-47DA-A36A-69EB91531FD8}">
      <dsp:nvSpPr>
        <dsp:cNvPr id="0" name=""/>
        <dsp:cNvSpPr/>
      </dsp:nvSpPr>
      <dsp:spPr>
        <a:xfrm>
          <a:off x="59807" y="166970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657658" y="890913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0800" rIns="50800" bIns="50800" numCol="1" spcCol="1270" rtlCol="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2. Rellenando los huecos (El "Horror Vacui" cerebral).</a:t>
          </a:r>
          <a:endParaRPr lang="es-ES" sz="2000" kern="1200" noProof="0" dirty="0"/>
        </a:p>
      </dsp:txBody>
      <dsp:txXfrm>
        <a:off x="657658" y="890913"/>
        <a:ext cx="6149301" cy="445634"/>
      </dsp:txXfrm>
    </dsp:sp>
    <dsp:sp modelId="{3F8116AC-FAC3-4E95-9865-93CCFEB191B9}">
      <dsp:nvSpPr>
        <dsp:cNvPr id="0" name=""/>
        <dsp:cNvSpPr/>
      </dsp:nvSpPr>
      <dsp:spPr>
        <a:xfrm>
          <a:off x="379136" y="835208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55666" y="1559151"/>
          <a:ext cx="6051292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0800" rIns="50800" bIns="508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3. El Hipocampo y la creación de recuerdos.</a:t>
          </a:r>
          <a:endParaRPr lang="es-ES" sz="2000" kern="1200" noProof="0" dirty="0"/>
        </a:p>
      </dsp:txBody>
      <dsp:txXfrm>
        <a:off x="755666" y="1559151"/>
        <a:ext cx="6051292" cy="445634"/>
      </dsp:txXfrm>
    </dsp:sp>
    <dsp:sp modelId="{A965097E-32F1-4AB8-8C4E-2814A7596B2F}">
      <dsp:nvSpPr>
        <dsp:cNvPr id="0" name=""/>
        <dsp:cNvSpPr/>
      </dsp:nvSpPr>
      <dsp:spPr>
        <a:xfrm>
          <a:off x="477144" y="1503447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6533CD-6B4C-471F-83A6-94E452F4F728}">
      <dsp:nvSpPr>
        <dsp:cNvPr id="0" name=""/>
        <dsp:cNvSpPr/>
      </dsp:nvSpPr>
      <dsp:spPr>
        <a:xfrm>
          <a:off x="657658" y="222738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0800" rIns="50800" bIns="50800" numCol="1" spcCol="1270" rtlCol="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4. Plasticidad: El cerebro cambia físicamente.</a:t>
          </a:r>
          <a:endParaRPr lang="es-ES" sz="2000" kern="1200" noProof="0" dirty="0"/>
        </a:p>
      </dsp:txBody>
      <dsp:txXfrm>
        <a:off x="657658" y="2227389"/>
        <a:ext cx="6149301" cy="445634"/>
      </dsp:txXfrm>
    </dsp:sp>
    <dsp:sp modelId="{0AFD720A-AB4A-48A3-92AC-7FAD167D1C80}">
      <dsp:nvSpPr>
        <dsp:cNvPr id="0" name=""/>
        <dsp:cNvSpPr/>
      </dsp:nvSpPr>
      <dsp:spPr>
        <a:xfrm>
          <a:off x="379136" y="2171685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161EF-F9DD-4760-8C35-60C37F876145}">
      <dsp:nvSpPr>
        <dsp:cNvPr id="0" name=""/>
        <dsp:cNvSpPr/>
      </dsp:nvSpPr>
      <dsp:spPr>
        <a:xfrm>
          <a:off x="338329" y="2895628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0800" rIns="50800" bIns="50800" numCol="1" spcCol="1270" rtlCol="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5. La necesidad de olvidar y la ilusión del "Yo“.</a:t>
          </a:r>
          <a:endParaRPr lang="es-ES" sz="2000" kern="1200" noProof="0" dirty="0"/>
        </a:p>
      </dsp:txBody>
      <dsp:txXfrm>
        <a:off x="338329" y="2895628"/>
        <a:ext cx="6468629" cy="445634"/>
      </dsp:txXfrm>
    </dsp:sp>
    <dsp:sp modelId="{022B38E4-EAF8-4CA2-8562-B2C6C5819418}">
      <dsp:nvSpPr>
        <dsp:cNvPr id="0" name=""/>
        <dsp:cNvSpPr/>
      </dsp:nvSpPr>
      <dsp:spPr>
        <a:xfrm>
          <a:off x="59807" y="2839923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El cerebro no es un disco duro.</a:t>
          </a:r>
          <a:endParaRPr lang="es-ES" sz="1800" kern="1200" noProof="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Los recuerdos son una mezcla de realidad y ficción.</a:t>
          </a:r>
          <a:endParaRPr lang="es-ES" sz="1800" kern="1200" noProof="0" dirty="0"/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El cerebro prefiere una historia "coherente" a una historia "verdadera".</a:t>
          </a:r>
          <a:endParaRPr lang="es-ES" sz="1800" kern="1200" noProof="0" dirty="0"/>
        </a:p>
      </dsp:txBody>
      <dsp:txXfrm>
        <a:off x="7628474" y="2746269"/>
        <a:ext cx="322283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o de lista de etiquetas"/>
  <dgm:desc val="Se usa para mostrar fragmentos no secuenciales o agrupados de información acompañados de elementos visuales relacionados. Funciona mejor con iconos o imágenes pequeñas con leyendas de texto breve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25/08/2026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966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BDBC-9C86-AD47-8E26-F0767169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0EE425-4D2A-4DB5-0BED-E0B0B7E90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704ADF-E08F-4C72-2493-2B29089FB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82F505-94F5-E5AF-6C4F-246265EB9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8179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8DF1-99B0-716B-4313-FE23BFC4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D49B2D-4F7E-73FA-27EB-F5819B2D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70EA3B-AFD3-8E3E-F76A-982BE0B83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EBE6A5-B135-3DD0-4E3C-50DED5D56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6972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7A38C-91CA-0C78-02EE-0E0C3CEA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8B6580-9FB8-05A4-1287-676682330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399AD7-06F5-6B31-F7EC-9F840624A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F21937-F9E3-0C79-C1C4-5AD347C5E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8697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25/08/2026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5.jpg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GvU_u0KwOk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-18025" y="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227870"/>
            <a:ext cx="10993549" cy="2054943"/>
          </a:xfrm>
        </p:spPr>
        <p:txBody>
          <a:bodyPr rtlCol="0">
            <a:noAutofit/>
          </a:bodyPr>
          <a:lstStyle/>
          <a:p>
            <a:r>
              <a:rPr lang="es-MX" sz="6000" dirty="0">
                <a:solidFill>
                  <a:schemeClr val="bg1"/>
                </a:solidFill>
              </a:rPr>
              <a:t>El cerebro nos engaña.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es-ES" dirty="0"/>
              <a:t>INDICE.</a:t>
            </a:r>
          </a:p>
        </p:txBody>
      </p:sp>
      <p:graphicFrame>
        <p:nvGraphicFramePr>
          <p:cNvPr id="6" name="Marcador de conteni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8056528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r>
              <a:rPr lang="es-MX" dirty="0"/>
              <a:t>La memoria no es una cámara fotográfica.</a:t>
            </a:r>
            <a:endParaRPr lang="es-ES" dirty="0">
              <a:solidFill>
                <a:srgbClr val="FFFEFF"/>
              </a:solidFill>
            </a:endParaRPr>
          </a:p>
        </p:txBody>
      </p:sp>
      <p:graphicFrame>
        <p:nvGraphicFramePr>
          <p:cNvPr id="4" name="Marcador de contenido 3" descr="Gráfico de SmartArt, icono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6909242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brir tarjeta de memoria de portátil y disco duro en la forma de ...">
            <a:extLst>
              <a:ext uri="{FF2B5EF4-FFF2-40B4-BE49-F238E27FC236}">
                <a16:creationId xmlns:a16="http://schemas.microsoft.com/office/drawing/2014/main" id="{96C0D3F9-DE6A-EBEE-9972-A6C1FF2074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039" y="1376516"/>
            <a:ext cx="2281084" cy="2261419"/>
          </a:xfrm>
          <a:prstGeom prst="rect">
            <a:avLst/>
          </a:prstGeom>
        </p:spPr>
      </p:pic>
      <p:pic>
        <p:nvPicPr>
          <p:cNvPr id="7" name="Picture 6" descr="Descubre cómo funciona tu cerebro al recordar recuerdos claves">
            <a:extLst>
              <a:ext uri="{FF2B5EF4-FFF2-40B4-BE49-F238E27FC236}">
                <a16:creationId xmlns:a16="http://schemas.microsoft.com/office/drawing/2014/main" id="{85A23829-3007-A47A-C33B-F986C38D3E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292" y="1376515"/>
            <a:ext cx="2281084" cy="2261419"/>
          </a:xfrm>
          <a:prstGeom prst="rect">
            <a:avLst/>
          </a:prstGeom>
        </p:spPr>
      </p:pic>
      <p:pic>
        <p:nvPicPr>
          <p:cNvPr id="8" name="Picture 7" descr="Libro : El Cerebro Y El Yo Mental - Sr. Mariano Gregorio | Mismo precio ...">
            <a:extLst>
              <a:ext uri="{FF2B5EF4-FFF2-40B4-BE49-F238E27FC236}">
                <a16:creationId xmlns:a16="http://schemas.microsoft.com/office/drawing/2014/main" id="{C3ACB343-212D-3F6F-5A33-710CF20449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0877" y="1376515"/>
            <a:ext cx="2281084" cy="226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b">
            <a:normAutofit/>
          </a:bodyPr>
          <a:lstStyle/>
          <a:p>
            <a:r>
              <a:rPr lang="es-MX" dirty="0"/>
              <a:t>Rellenando los huecos (El "Horror Vacui" cerebral).</a:t>
            </a:r>
            <a:endParaRPr lang="es-E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D68A4-7CB4-3E25-3936-0FA799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pPr lvl="0"/>
            <a:r>
              <a:rPr lang="es-MX" dirty="0"/>
              <a:t>El cerebro odia los vacíos de información.</a:t>
            </a:r>
          </a:p>
          <a:p>
            <a:pPr lvl="0"/>
            <a:r>
              <a:rPr lang="es-MX" dirty="0"/>
              <a:t>Suple deficiencias sensoriales creando ilusiones.</a:t>
            </a:r>
          </a:p>
          <a:p>
            <a:pPr lvl="0"/>
            <a:r>
              <a:rPr lang="es-MX" dirty="0"/>
              <a:t>El fenómeno del </a:t>
            </a:r>
            <a:r>
              <a:rPr lang="es-MX" i="1" dirty="0" err="1"/>
              <a:t>Déjà</a:t>
            </a:r>
            <a:r>
              <a:rPr lang="es-MX" i="1" dirty="0"/>
              <a:t> </a:t>
            </a:r>
            <a:r>
              <a:rPr lang="es-MX" i="1" dirty="0" err="1"/>
              <a:t>vu</a:t>
            </a:r>
            <a:r>
              <a:rPr lang="es-MX" dirty="0"/>
              <a:t> (lo ya visto).</a:t>
            </a:r>
          </a:p>
          <a:p>
            <a:endParaRPr lang="es-MX" dirty="0"/>
          </a:p>
        </p:txBody>
      </p:sp>
      <p:pic>
        <p:nvPicPr>
          <p:cNvPr id="7" name="Content Placeholder 6" descr="El naufragio de los pensamientos - RDU UNAM">
            <a:extLst>
              <a:ext uri="{FF2B5EF4-FFF2-40B4-BE49-F238E27FC236}">
                <a16:creationId xmlns:a16="http://schemas.microsoft.com/office/drawing/2014/main" id="{0F26EF24-E923-87C6-CB7F-279F0ADDA5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22804" r="-2" b="17229"/>
          <a:stretch>
            <a:fillRect/>
          </a:stretch>
        </p:blipFill>
        <p:spPr>
          <a:xfrm>
            <a:off x="6188417" y="2228003"/>
            <a:ext cx="5422392" cy="36330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0DE9-93C8-2292-6EF7-D1D915801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B11A4-3F68-4940-E9E0-BF5552EB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b">
            <a:normAutofit/>
          </a:bodyPr>
          <a:lstStyle/>
          <a:p>
            <a:r>
              <a:rPr lang="es-MX" dirty="0"/>
              <a:t>Rellenando los huecos (El "Horror Vacui" cerebral).</a:t>
            </a:r>
            <a:endParaRPr lang="es-ES" dirty="0"/>
          </a:p>
        </p:txBody>
      </p:sp>
      <p:pic>
        <p:nvPicPr>
          <p:cNvPr id="6" name="Picture 5" descr="Alzheimer's disease. Neurodegeneration. Cross section of normal and ...">
            <a:extLst>
              <a:ext uri="{FF2B5EF4-FFF2-40B4-BE49-F238E27FC236}">
                <a16:creationId xmlns:a16="http://schemas.microsoft.com/office/drawing/2014/main" id="{E40004C4-62B4-A394-2764-111C9266E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59" y="2228003"/>
            <a:ext cx="5153258" cy="3633047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33376-D442-0824-957D-EE3776244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pPr lvl="0"/>
            <a:r>
              <a:rPr lang="es-MX" dirty="0"/>
              <a:t>El Hipocampo: Estructura clave para nuevos recuerdos.</a:t>
            </a:r>
          </a:p>
          <a:p>
            <a:pPr lvl="0"/>
            <a:r>
              <a:rPr lang="es-MX" dirty="0"/>
              <a:t>Proceso de consolidación: Del hipocampo a la corteza cerebral.</a:t>
            </a:r>
          </a:p>
          <a:p>
            <a:pPr lvl="0"/>
            <a:r>
              <a:rPr lang="es-MX" dirty="0"/>
              <a:t>El caso del paciente H.M. y el Alzheimer.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5374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5F3C-6C7B-F76F-9772-B6630C74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A6706-A630-F9B9-F246-EEF97EF6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b">
            <a:normAutofit/>
          </a:bodyPr>
          <a:lstStyle/>
          <a:p>
            <a:r>
              <a:rPr lang="es-MX" dirty="0"/>
              <a:t>Plasticidad: El cerebro cambia </a:t>
            </a:r>
            <a:r>
              <a:rPr lang="es-MX" dirty="0" err="1"/>
              <a:t>fisicamente</a:t>
            </a:r>
            <a:endParaRPr lang="es-E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AFB6-BEE4-AC1F-F102-82BA638C6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pPr lvl="0"/>
            <a:r>
              <a:rPr lang="es-MX" dirty="0"/>
              <a:t>El aprendizaje altera la estructura cerebral (cambios en las sinapsis).</a:t>
            </a:r>
          </a:p>
          <a:p>
            <a:pPr lvl="0"/>
            <a:r>
              <a:rPr lang="es-MX" dirty="0"/>
              <a:t>La </a:t>
            </a:r>
            <a:r>
              <a:rPr lang="es-MX" dirty="0" err="1"/>
              <a:t>neuroplasticidad</a:t>
            </a:r>
            <a:r>
              <a:rPr lang="es-MX" dirty="0"/>
              <a:t> se mantiene en la edad adulta.</a:t>
            </a:r>
          </a:p>
          <a:p>
            <a:pPr lvl="0"/>
            <a:r>
              <a:rPr lang="es-MX" dirty="0"/>
              <a:t>El experimento de los taxistas de Londres.</a:t>
            </a:r>
          </a:p>
          <a:p>
            <a:endParaRPr lang="es-MX" dirty="0"/>
          </a:p>
        </p:txBody>
      </p:sp>
      <p:pic>
        <p:nvPicPr>
          <p:cNvPr id="3" name="Picture 2" descr="Plasticidad cerebral-diapo | PPT">
            <a:extLst>
              <a:ext uri="{FF2B5EF4-FFF2-40B4-BE49-F238E27FC236}">
                <a16:creationId xmlns:a16="http://schemas.microsoft.com/office/drawing/2014/main" id="{E6B55BFC-9746-9D14-6D4A-5294DB592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54" y="2391697"/>
            <a:ext cx="4197286" cy="314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8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C095-258B-9903-64C6-E9B5D5EAA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9801E-935C-256D-EB64-FE30BC04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b">
            <a:normAutofit/>
          </a:bodyPr>
          <a:lstStyle/>
          <a:p>
            <a:r>
              <a:rPr lang="es-MX" dirty="0"/>
              <a:t>La necesidad de olvidar y la ilusión del "Yo"</a:t>
            </a:r>
            <a:endParaRPr lang="es-E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4FDF2-606A-C59A-0DB7-49B6A1044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pPr lvl="0"/>
            <a:r>
              <a:rPr lang="es-MX" dirty="0"/>
              <a:t>Tener un cerebro eficaz requiere un filtro para lo trivial.</a:t>
            </a:r>
          </a:p>
          <a:p>
            <a:pPr lvl="0"/>
            <a:r>
              <a:rPr lang="es-MX" dirty="0"/>
              <a:t>Olvidar es un mecanismo de adaptación y supervivencia.</a:t>
            </a:r>
          </a:p>
          <a:p>
            <a:pPr lvl="0"/>
            <a:r>
              <a:rPr lang="es-MX" dirty="0"/>
              <a:t>El "Yo" como una ilusión de unidad mental.</a:t>
            </a:r>
          </a:p>
          <a:p>
            <a:endParaRPr lang="es-MX" dirty="0"/>
          </a:p>
        </p:txBody>
      </p:sp>
      <p:pic>
        <p:nvPicPr>
          <p:cNvPr id="5" name="Picture 4" descr="¿Quién Eres Tú en Realidad? Descubre Cómo Tu Cerebro Crea la Ilusión ...">
            <a:extLst>
              <a:ext uri="{FF2B5EF4-FFF2-40B4-BE49-F238E27FC236}">
                <a16:creationId xmlns:a16="http://schemas.microsoft.com/office/drawing/2014/main" id="{DDBB6DD3-D107-B8A9-2262-5CADF747B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04" y="2576549"/>
            <a:ext cx="5382580" cy="293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62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4" y="1419226"/>
            <a:ext cx="3449191" cy="773368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BIBLIOGRAFIA.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r>
              <a:rPr lang="es-MX" dirty="0">
                <a:hlinkClick r:id="rId3"/>
              </a:rPr>
              <a:t>https://www.youtube.com/watch?v=EGvU_u0KwOk</a:t>
            </a:r>
            <a:r>
              <a:rPr lang="es-MX" dirty="0"/>
              <a:t> </a:t>
            </a:r>
            <a:endParaRPr lang="es-ES" dirty="0">
              <a:solidFill>
                <a:schemeClr val="bg2"/>
              </a:solidFill>
            </a:endParaRPr>
          </a:p>
          <a:p>
            <a:pPr rtl="0"/>
            <a:endParaRPr lang="es-ES" dirty="0">
              <a:solidFill>
                <a:schemeClr val="bg2"/>
              </a:solidFill>
            </a:endParaRPr>
          </a:p>
        </p:txBody>
      </p:sp>
      <p:pic>
        <p:nvPicPr>
          <p:cNvPr id="7" name="Picture 6" descr="¿Y si pudieras borrar tus peores recuerdos? La ciencia detrás de ...">
            <a:extLst>
              <a:ext uri="{FF2B5EF4-FFF2-40B4-BE49-F238E27FC236}">
                <a16:creationId xmlns:a16="http://schemas.microsoft.com/office/drawing/2014/main" id="{5392ECC1-893B-DAFC-E285-12C1CCBDD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36" y="983638"/>
            <a:ext cx="7717014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{DE65CE2B-154B-49E6-BE7C-05B0B2CB53FE}TF9cd6fad6-da1d-416b-8dc8-a086cd1045b10fc9cf83_win32-66f3597afc39</Template>
  <TotalTime>14</TotalTime>
  <Words>282</Words>
  <Application>Microsoft Office PowerPoint</Application>
  <PresentationFormat>Widescreen</PresentationFormat>
  <Paragraphs>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Wingdings 2</vt:lpstr>
      <vt:lpstr>Personalizado</vt:lpstr>
      <vt:lpstr>El cerebro nos engaña.</vt:lpstr>
      <vt:lpstr>INDICE.</vt:lpstr>
      <vt:lpstr>La memoria no es una cámara fotográfica.</vt:lpstr>
      <vt:lpstr>Rellenando los huecos (El "Horror Vacui" cerebral).</vt:lpstr>
      <vt:lpstr>Rellenando los huecos (El "Horror Vacui" cerebral).</vt:lpstr>
      <vt:lpstr>Plasticidad: El cerebro cambia fisicamente</vt:lpstr>
      <vt:lpstr>La necesidad de olvidar y la ilusión del "Yo"</vt:lpstr>
      <vt:lpstr>BIBLIOGRAFIA.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Yanet Xeque</dc:creator>
  <cp:lastModifiedBy>Yanet Xeque</cp:lastModifiedBy>
  <cp:revision>1</cp:revision>
  <dcterms:created xsi:type="dcterms:W3CDTF">2026-08-26T05:46:21Z</dcterms:created>
  <dcterms:modified xsi:type="dcterms:W3CDTF">2026-08-26T06:01:00Z</dcterms:modified>
</cp:coreProperties>
</file>